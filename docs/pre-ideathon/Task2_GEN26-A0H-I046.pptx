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85" dt="2026-10-08T06:41:12.039"/>
    <p1510:client id="{B5B11036-EB02-F0A9-D66A-8BF490F6AC61}" v="2588" dt="2026-10-08T06:50:35.604"/>
    <p1510:client id="{D2B4E931-EB03-852F-3844-1B4ADC8885A7}" v="2421" dt="2026-10-08T06:39:55.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667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a:solidFill>
                  <a:schemeClr val="accent6"/>
                </a:solidFill>
              </a:rPr>
              <a:t>Genesis Ideathon – Pre-Ideathon Template</a:t>
            </a:r>
            <a:endParaRPr lang="en-US" sz="105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a:solidFill>
                  <a:schemeClr val="tx2"/>
                </a:solidFill>
                <a:latin typeface="Cambria" pitchFamily="34" charset="0"/>
                <a:ea typeface="Cambria" pitchFamily="34" charset="-122"/>
                <a:cs typeface="Cambria" pitchFamily="34" charset="-120"/>
              </a:rPr>
              <a:t>SLIDE TITLE</a:t>
            </a:r>
            <a:endParaRPr lang="en-US" sz="24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a:solidFill>
                  <a:schemeClr val="accent3"/>
                </a:solidFill>
              </a:rPr>
              <a:t>PRE-IDEATHON TEMPLATE</a:t>
            </a:r>
            <a:endParaRPr lang="en-US" sz="120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a:solidFill>
                  <a:schemeClr val="bg1"/>
                </a:solidFill>
                <a:latin typeface="Cambria" pitchFamily="34" charset="0"/>
                <a:ea typeface="Cambria" pitchFamily="34" charset="-122"/>
                <a:cs typeface="Cambria" pitchFamily="34" charset="-120"/>
              </a:rPr>
              <a:t>GENESIS</a:t>
            </a:r>
            <a:endParaRPr lang="en-US" sz="5400"/>
          </a:p>
          <a:p>
            <a:pPr marL="0" indent="0">
              <a:lnSpc>
                <a:spcPct val="90000"/>
              </a:lnSpc>
              <a:buNone/>
            </a:pPr>
            <a:r>
              <a:rPr lang="en-US" sz="5400" b="1" kern="0" spc="200">
                <a:solidFill>
                  <a:schemeClr val="accent3"/>
                </a:solidFill>
                <a:latin typeface="Cambria" pitchFamily="34" charset="0"/>
                <a:ea typeface="Cambria" pitchFamily="34" charset="-122"/>
                <a:cs typeface="Cambria" pitchFamily="34" charset="-120"/>
              </a:rPr>
              <a:t>IDEATHON</a:t>
            </a:r>
            <a:endParaRPr lang="en-US" sz="5400"/>
          </a:p>
        </p:txBody>
      </p:sp>
      <p:sp>
        <p:nvSpPr>
          <p:cNvPr id="13" name="Section Chip"/>
          <p:cNvSpPr/>
          <p:nvPr/>
        </p:nvSpPr>
        <p:spPr>
          <a:xfrm>
            <a:off x="548640" y="2510605"/>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a:solidFill>
                  <a:schemeClr val="bg1"/>
                </a:solidFill>
              </a:rPr>
              <a:t>TEAM &amp; DOMAIN</a:t>
            </a:r>
            <a:endParaRPr lang="en-US" sz="1300"/>
          </a:p>
        </p:txBody>
      </p:sp>
      <p:sp>
        <p:nvSpPr>
          <p:cNvPr id="14" name="Cover Lead"/>
          <p:cNvSpPr txBox="1"/>
          <p:nvPr/>
        </p:nvSpPr>
        <p:spPr>
          <a:xfrm>
            <a:off x="548640" y="2945611"/>
            <a:ext cx="5669280" cy="365760"/>
          </a:xfrm>
          <a:prstGeom prst="rect">
            <a:avLst/>
          </a:prstGeom>
          <a:noFill/>
          <a:ln/>
        </p:spPr>
        <p:txBody>
          <a:bodyPr wrap="square" lIns="0" tIns="0" rIns="0" bIns="0" rtlCol="0" anchor="ctr"/>
          <a:lstStyle/>
          <a:p>
            <a:pPr marL="0" indent="0">
              <a:buNone/>
            </a:pPr>
            <a:r>
              <a:rPr lang="en-US" sz="1600" i="1">
                <a:solidFill>
                  <a:schemeClr val="accent6"/>
                </a:solidFill>
              </a:rPr>
              <a:t>Introduce your team and the domain you have chosen</a:t>
            </a:r>
            <a:endParaRPr lang="en-US" sz="1600"/>
          </a:p>
        </p:txBody>
      </p:sp>
      <p:sp>
        <p:nvSpPr>
          <p:cNvPr id="15" name="Cover Fields"/>
          <p:cNvSpPr txBox="1"/>
          <p:nvPr/>
        </p:nvSpPr>
        <p:spPr>
          <a:xfrm>
            <a:off x="548640" y="3311370"/>
            <a:ext cx="6035040" cy="3546629"/>
          </a:xfrm>
          <a:prstGeom prst="rect">
            <a:avLst/>
          </a:prstGeom>
          <a:noFill/>
          <a:ln/>
        </p:spPr>
        <p:txBody>
          <a:bodyPr wrap="square" lIns="0" tIns="0" rIns="0" bIns="0" rtlCol="0" anchor="t"/>
          <a:lstStyle/>
          <a:p>
            <a:pPr marL="279400" indent="-279400">
              <a:spcAft>
                <a:spcPts val="600"/>
              </a:spcAft>
              <a:buClr>
                <a:schemeClr val="accent3"/>
              </a:buClr>
              <a:buSzPct val="100000"/>
              <a:buChar char="•"/>
            </a:pPr>
            <a:r>
              <a:rPr lang="en-US" sz="1800">
                <a:solidFill>
                  <a:schemeClr val="bg1"/>
                </a:solidFill>
              </a:rPr>
              <a:t>Team Name – </a:t>
            </a:r>
            <a:r>
              <a:rPr lang="en-US">
                <a:solidFill>
                  <a:schemeClr val="bg1"/>
                </a:solidFill>
                <a:latin typeface="Times New Roman" panose="02020603050405020304" pitchFamily="18" charset="0"/>
                <a:cs typeface="Times New Roman" panose="02020603050405020304" pitchFamily="18" charset="0"/>
              </a:rPr>
              <a:t>Closed Loop</a:t>
            </a:r>
            <a:endParaRPr lang="en-US" sz="1800">
              <a:latin typeface="Times New Roman" panose="02020603050405020304" pitchFamily="18" charset="0"/>
              <a:cs typeface="Times New Roman" panose="02020603050405020304" pitchFamily="18" charset="0"/>
            </a:endParaRPr>
          </a:p>
          <a:p>
            <a:pPr marL="279400" indent="-279400">
              <a:spcAft>
                <a:spcPts val="600"/>
              </a:spcAft>
              <a:buClr>
                <a:schemeClr val="accent3"/>
              </a:buClr>
              <a:buSzPct val="100000"/>
              <a:buChar char="•"/>
            </a:pPr>
            <a:r>
              <a:rPr lang="en-US" sz="1800">
                <a:solidFill>
                  <a:schemeClr val="bg1"/>
                </a:solidFill>
              </a:rPr>
              <a:t>Team Members – </a:t>
            </a:r>
          </a:p>
          <a:p>
            <a:pPr>
              <a:spcAft>
                <a:spcPts val="600"/>
              </a:spcAft>
              <a:buClr>
                <a:schemeClr val="accent3"/>
              </a:buClr>
              <a:buSzPct val="100000"/>
            </a:pPr>
            <a:r>
              <a:rPr lang="en-US" sz="1800">
                <a:solidFill>
                  <a:schemeClr val="bg1"/>
                </a:solidFill>
              </a:rPr>
              <a:t>	</a:t>
            </a:r>
            <a:r>
              <a:rPr lang="en-US" sz="1800">
                <a:solidFill>
                  <a:schemeClr val="bg1"/>
                </a:solidFill>
                <a:latin typeface="Times New Roman" panose="02020603050405020304" pitchFamily="18" charset="0"/>
                <a:cs typeface="Times New Roman" panose="02020603050405020304" pitchFamily="18" charset="0"/>
              </a:rPr>
              <a:t>1)K Lokesh	 CB.EN.U4AEE25022</a:t>
            </a:r>
          </a:p>
          <a:p>
            <a:pPr>
              <a:spcAft>
                <a:spcPts val="600"/>
              </a:spcAft>
              <a:buClr>
                <a:schemeClr val="accent3"/>
              </a:buClr>
              <a:buSzPct val="100000"/>
            </a:pPr>
            <a:r>
              <a:rPr lang="en-US" sz="1800">
                <a:solidFill>
                  <a:schemeClr val="bg1"/>
                </a:solidFill>
                <a:latin typeface="Times New Roman" panose="02020603050405020304" pitchFamily="18" charset="0"/>
                <a:cs typeface="Times New Roman" panose="02020603050405020304" pitchFamily="18" charset="0"/>
              </a:rPr>
              <a:t>	2)Rahul </a:t>
            </a:r>
            <a:r>
              <a:rPr lang="en-US">
                <a:solidFill>
                  <a:schemeClr val="bg1"/>
                </a:solidFill>
                <a:latin typeface="Times New Roman" panose="02020603050405020304" pitchFamily="18" charset="0"/>
                <a:cs typeface="Times New Roman" panose="02020603050405020304" pitchFamily="18" charset="0"/>
              </a:rPr>
              <a:t>Kumar G	 CB.EN.U4AEE25038</a:t>
            </a:r>
            <a:endParaRPr lang="en-US" sz="1800">
              <a:solidFill>
                <a:schemeClr val="bg1"/>
              </a:solidFill>
              <a:latin typeface="Times New Roman" panose="02020603050405020304" pitchFamily="18" charset="0"/>
              <a:cs typeface="Times New Roman" panose="02020603050405020304" pitchFamily="18" charset="0"/>
            </a:endParaRPr>
          </a:p>
          <a:p>
            <a:pPr>
              <a:spcAft>
                <a:spcPts val="600"/>
              </a:spcAft>
              <a:buClr>
                <a:schemeClr val="accent3"/>
              </a:buClr>
              <a:buSzPct val="100000"/>
            </a:pPr>
            <a:r>
              <a:rPr lang="en-US" sz="1800">
                <a:solidFill>
                  <a:schemeClr val="bg1"/>
                </a:solidFill>
                <a:latin typeface="Times New Roman" panose="02020603050405020304" pitchFamily="18" charset="0"/>
                <a:cs typeface="Times New Roman" panose="02020603050405020304" pitchFamily="18" charset="0"/>
              </a:rPr>
              <a:t>	3)</a:t>
            </a:r>
            <a:r>
              <a:rPr lang="en-US">
                <a:solidFill>
                  <a:schemeClr val="bg1"/>
                </a:solidFill>
                <a:latin typeface="Times New Roman" panose="02020603050405020304" pitchFamily="18" charset="0"/>
                <a:cs typeface="Times New Roman" panose="02020603050405020304" pitchFamily="18" charset="0"/>
              </a:rPr>
              <a:t>Harish B	 CB.EN.U4AEE25018</a:t>
            </a:r>
            <a:endParaRPr lang="en-US" sz="1800">
              <a:solidFill>
                <a:schemeClr val="bg1"/>
              </a:solidFill>
              <a:latin typeface="Times New Roman" panose="02020603050405020304" pitchFamily="18" charset="0"/>
              <a:cs typeface="Times New Roman" panose="02020603050405020304" pitchFamily="18" charset="0"/>
            </a:endParaRPr>
          </a:p>
          <a:p>
            <a:pPr>
              <a:spcAft>
                <a:spcPts val="600"/>
              </a:spcAft>
              <a:buClr>
                <a:schemeClr val="accent3"/>
              </a:buClr>
              <a:buSzPct val="100000"/>
            </a:pPr>
            <a:r>
              <a:rPr lang="en-US" sz="1800">
                <a:solidFill>
                  <a:schemeClr val="bg1"/>
                </a:solidFill>
                <a:latin typeface="Times New Roman" panose="02020603050405020304" pitchFamily="18" charset="0"/>
                <a:cs typeface="Times New Roman" panose="02020603050405020304" pitchFamily="18" charset="0"/>
              </a:rPr>
              <a:t>	4)</a:t>
            </a:r>
            <a:r>
              <a:rPr lang="en-US" sz="1800" err="1">
                <a:solidFill>
                  <a:schemeClr val="bg1"/>
                </a:solidFill>
                <a:latin typeface="Times New Roman" panose="02020603050405020304" pitchFamily="18" charset="0"/>
                <a:cs typeface="Times New Roman" panose="02020603050405020304" pitchFamily="18" charset="0"/>
              </a:rPr>
              <a:t>Gurusharvesh</a:t>
            </a:r>
            <a:r>
              <a:rPr lang="en-US">
                <a:solidFill>
                  <a:schemeClr val="bg1"/>
                </a:solidFill>
                <a:latin typeface="Times New Roman" panose="02020603050405020304" pitchFamily="18" charset="0"/>
                <a:cs typeface="Times New Roman" panose="02020603050405020304" pitchFamily="18" charset="0"/>
              </a:rPr>
              <a:t> B	 CB.EN.U4AEE25017</a:t>
            </a:r>
            <a:endParaRPr lang="en-US" sz="1800">
              <a:latin typeface="Times New Roman" panose="02020603050405020304" pitchFamily="18" charset="0"/>
              <a:cs typeface="Times New Roman" panose="02020603050405020304" pitchFamily="18" charset="0"/>
            </a:endParaRPr>
          </a:p>
          <a:p>
            <a:pPr marL="279400" indent="-279400">
              <a:spcAft>
                <a:spcPts val="1400"/>
              </a:spcAft>
              <a:buClr>
                <a:schemeClr val="accent3"/>
              </a:buClr>
              <a:buSzPct val="100000"/>
              <a:buChar char="•"/>
            </a:pPr>
            <a:r>
              <a:rPr lang="en-US" sz="1800">
                <a:solidFill>
                  <a:schemeClr val="bg1"/>
                </a:solidFill>
              </a:rPr>
              <a:t>Selected Domain – 8	</a:t>
            </a:r>
            <a:endParaRPr lang="en-US" sz="1800"/>
          </a:p>
          <a:p>
            <a:pPr marL="279400" indent="-279400">
              <a:spcAft>
                <a:spcPts val="1400"/>
              </a:spcAft>
              <a:buClr>
                <a:schemeClr val="accent3"/>
              </a:buClr>
              <a:buSzPct val="100000"/>
              <a:buChar char="•"/>
            </a:pPr>
            <a:r>
              <a:rPr lang="en-US" sz="1800">
                <a:solidFill>
                  <a:schemeClr val="bg1"/>
                </a:solidFill>
                <a:latin typeface="Times New Roman" panose="02020603050405020304" pitchFamily="18" charset="0"/>
                <a:cs typeface="Times New Roman" panose="02020603050405020304" pitchFamily="18" charset="0"/>
              </a:rPr>
              <a:t>Problem Statement – Urban congestion and current drone  limitations cause severe bottlenecks in last-mile commercial delivery.</a:t>
            </a:r>
            <a:endParaRPr 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DOMAIN PROBLEM IN OUR WORDS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Closed Loop</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Explain the problem in your domain simply, in your own words</a:t>
            </a:r>
            <a:r>
              <a:rPr lang="en-US" b="1">
                <a:solidFill>
                  <a:schemeClr val="accent2"/>
                </a:solidFill>
              </a:rPr>
              <a:t>-</a:t>
            </a:r>
            <a:endParaRPr lang="en-US" sz="1800" b="1">
              <a:solidFill>
                <a:schemeClr val="accent2"/>
              </a:solidFill>
            </a:endParaRPr>
          </a:p>
        </p:txBody>
      </p:sp>
      <p:sp>
        <p:nvSpPr>
          <p:cNvPr id="10" name="Prompts"/>
          <p:cNvSpPr txBox="1"/>
          <p:nvPr/>
        </p:nvSpPr>
        <p:spPr>
          <a:xfrm>
            <a:off x="736092" y="2811220"/>
            <a:ext cx="10424160" cy="372674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a:solidFill>
                  <a:schemeClr val="tx1"/>
                </a:solidFill>
              </a:rPr>
              <a:t>What exactly needs to be solved?</a:t>
            </a:r>
            <a:endParaRPr lang="en-US"/>
          </a:p>
          <a:p>
            <a:pPr>
              <a:spcAft>
                <a:spcPts val="1000"/>
              </a:spcAft>
              <a:buClr>
                <a:schemeClr val="accent1"/>
              </a:buClr>
              <a:buSzPct val="100000"/>
            </a:pPr>
            <a:r>
              <a:rPr lang="en-US"/>
              <a:t>	</a:t>
            </a:r>
            <a:r>
              <a:rPr lang="en-US">
                <a:latin typeface="Times New Roman" panose="02020603050405020304" pitchFamily="18" charset="0"/>
                <a:cs typeface="Times New Roman" panose="02020603050405020304" pitchFamily="18" charset="0"/>
              </a:rPr>
              <a:t>-Lengthy Commercial Logistics</a:t>
            </a:r>
          </a:p>
          <a:p>
            <a:pPr>
              <a:spcAft>
                <a:spcPts val="1000"/>
              </a:spcAft>
              <a:buClr>
                <a:schemeClr val="accent1"/>
              </a:buClr>
              <a:buSzPct val="100000"/>
            </a:pPr>
            <a:r>
              <a:rPr lang="en-US">
                <a:latin typeface="Times New Roman" panose="02020603050405020304" pitchFamily="18" charset="0"/>
                <a:cs typeface="Times New Roman" panose="02020603050405020304" pitchFamily="18" charset="0"/>
              </a:rPr>
              <a:t>	-Distributed Workforce (for delivery platforms like Amazon, Swiggy </a:t>
            </a:r>
            <a:r>
              <a:rPr lang="en-US" err="1">
                <a:latin typeface="Times New Roman" panose="02020603050405020304" pitchFamily="18" charset="0"/>
                <a:cs typeface="Times New Roman" panose="02020603050405020304" pitchFamily="18" charset="0"/>
              </a:rPr>
              <a:t>etc</a:t>
            </a:r>
            <a:r>
              <a:rPr lang="en-US">
                <a:latin typeface="Times New Roman" panose="02020603050405020304" pitchFamily="18" charset="0"/>
                <a:cs typeface="Times New Roman" panose="02020603050405020304" pitchFamily="18" charset="0"/>
              </a:rPr>
              <a:t>)</a:t>
            </a:r>
          </a:p>
          <a:p>
            <a:pPr>
              <a:spcAft>
                <a:spcPts val="1000"/>
              </a:spcAft>
              <a:buClr>
                <a:schemeClr val="accent1"/>
              </a:buClr>
              <a:buSzPct val="100000"/>
            </a:pPr>
            <a:r>
              <a:rPr lang="en-US">
                <a:latin typeface="Times New Roman" panose="02020603050405020304" pitchFamily="18" charset="0"/>
                <a:cs typeface="Times New Roman" panose="02020603050405020304" pitchFamily="18" charset="0"/>
              </a:rPr>
              <a:t>	-Last-Mile Delivery (Precision Landing, Obstacle Avoidance)</a:t>
            </a:r>
          </a:p>
          <a:p>
            <a:pPr>
              <a:spcAft>
                <a:spcPts val="1000"/>
              </a:spcAft>
              <a:buClr>
                <a:schemeClr val="accent1"/>
              </a:buClr>
              <a:buSzPct val="100000"/>
            </a:pPr>
            <a:r>
              <a:rPr lang="en-US">
                <a:latin typeface="Times New Roman" panose="02020603050405020304" pitchFamily="18" charset="0"/>
                <a:cs typeface="Times New Roman" panose="02020603050405020304" pitchFamily="18" charset="0"/>
              </a:rPr>
              <a:t>	-High Carbon Emissions from Logistics Carriers</a:t>
            </a:r>
          </a:p>
          <a:p>
            <a:pPr marL="279400" indent="-279400">
              <a:spcAft>
                <a:spcPts val="1000"/>
              </a:spcAft>
              <a:buClr>
                <a:schemeClr val="accent1"/>
              </a:buClr>
              <a:buSzPct val="100000"/>
              <a:buChar char="•"/>
            </a:pPr>
            <a:r>
              <a:rPr lang="en-US">
                <a:solidFill>
                  <a:schemeClr val="tx1"/>
                </a:solidFill>
              </a:rPr>
              <a:t>Why is it important right now?</a:t>
            </a:r>
          </a:p>
          <a:p>
            <a:pPr>
              <a:spcAft>
                <a:spcPts val="1000"/>
              </a:spcAft>
              <a:buClr>
                <a:schemeClr val="accent1"/>
              </a:buClr>
              <a:buSzPct val="100000"/>
            </a:pPr>
            <a:r>
              <a:rPr lang="en-US"/>
              <a:t>	</a:t>
            </a:r>
            <a:r>
              <a:rPr lang="en-US">
                <a:latin typeface="Times New Roman" panose="02020603050405020304" pitchFamily="18" charset="0"/>
                <a:cs typeface="Times New Roman" panose="02020603050405020304" pitchFamily="18" charset="0"/>
              </a:rPr>
              <a:t>-Due to severe bottlenecks in urban ground-based delivery, the need for swift commercial logistics 	arises leading to the development of autonomous aerial vehicles </a:t>
            </a:r>
            <a:r>
              <a:rPr lang="en-US" err="1">
                <a:latin typeface="Times New Roman" panose="02020603050405020304" pitchFamily="18" charset="0"/>
                <a:cs typeface="Times New Roman" panose="02020603050405020304" pitchFamily="18" charset="0"/>
              </a:rPr>
              <a:t>i.e</a:t>
            </a:r>
            <a:r>
              <a:rPr lang="en-US">
                <a:latin typeface="Times New Roman" panose="02020603050405020304" pitchFamily="18" charset="0"/>
                <a:cs typeface="Times New Roman" panose="02020603050405020304" pitchFamily="18" charset="0"/>
              </a:rPr>
              <a:t> Airborne Logistics which also 	reduces carbon emissions and plays a role in increasing urban mobility by reducing ground traffic of 	logistics carriers.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1" name="TextBox 10">
            <a:extLst>
              <a:ext uri="{FF2B5EF4-FFF2-40B4-BE49-F238E27FC236}">
                <a16:creationId xmlns:a16="http://schemas.microsoft.com/office/drawing/2014/main" id="{0FAFB03D-AF04-805C-4E9C-7A8EF3752ED1}"/>
              </a:ext>
            </a:extLst>
          </p:cNvPr>
          <p:cNvSpPr txBox="1"/>
          <p:nvPr/>
        </p:nvSpPr>
        <p:spPr>
          <a:xfrm>
            <a:off x="777240" y="1887890"/>
            <a:ext cx="9272534" cy="923330"/>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Commercial logistics operations encounter severe bottlenecks in last mile delivery. Ground</a:t>
            </a:r>
          </a:p>
          <a:p>
            <a:r>
              <a:rPr lang="en-US">
                <a:latin typeface="Times New Roman" panose="02020603050405020304" pitchFamily="18" charset="0"/>
                <a:cs typeface="Times New Roman" panose="02020603050405020304" pitchFamily="18" charset="0"/>
              </a:rPr>
              <a:t>vehicles experience urban congestion. This increases delivery times, fuel costs, and carbon</a:t>
            </a:r>
          </a:p>
          <a:p>
            <a:r>
              <a:rPr lang="en-US">
                <a:latin typeface="Times New Roman" panose="02020603050405020304" pitchFamily="18" charset="0"/>
                <a:cs typeface="Times New Roman" panose="02020603050405020304" pitchFamily="18" charset="0"/>
              </a:rPr>
              <a:t>emissions. This defines the Problem.</a:t>
            </a: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WHO IS AFFECTED?</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ea typeface="Calibri"/>
                <a:cs typeface="Calibri"/>
              </a:rPr>
              <a:t>Closed Loop</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Target users, stakeholders, beneficiaries</a:t>
            </a:r>
            <a:endParaRPr lang="en-US" sz="1800"/>
          </a:p>
        </p:txBody>
      </p:sp>
      <p:sp>
        <p:nvSpPr>
          <p:cNvPr id="10" name="Prompts"/>
          <p:cNvSpPr txBox="1"/>
          <p:nvPr/>
        </p:nvSpPr>
        <p:spPr>
          <a:xfrm>
            <a:off x="1003966" y="2133457"/>
            <a:ext cx="10484317" cy="3631130"/>
          </a:xfrm>
          <a:prstGeom prst="rect">
            <a:avLst/>
          </a:prstGeom>
          <a:noFill/>
          <a:ln/>
        </p:spPr>
        <p:txBody>
          <a:bodyPr wrap="square" lIns="0" tIns="0" rIns="0" bIns="0" rtlCol="0" anchor="t"/>
          <a:lstStyle/>
          <a:p>
            <a:r>
              <a:rPr lang="en-US">
                <a:solidFill>
                  <a:srgbClr val="026855"/>
                </a:solidFill>
                <a:ea typeface="+mn-lt"/>
                <a:cs typeface="+mn-lt"/>
              </a:rPr>
              <a:t>•</a:t>
            </a:r>
            <a:r>
              <a:rPr lang="en-US">
                <a:ea typeface="Calibri"/>
                <a:cs typeface="Calibri"/>
              </a:rPr>
              <a:t>Primary users / target group</a:t>
            </a:r>
            <a:endParaRPr lang="en-US"/>
          </a:p>
          <a:p>
            <a:r>
              <a:rPr lang="en-US">
                <a:latin typeface="Times New Roman"/>
                <a:ea typeface="Calibri"/>
                <a:cs typeface="Times New Roman"/>
              </a:rPr>
              <a:t>   -E-Commerce, Food Delivery, Logistics and Goods Transportation - Target Group - Commercial Logistics</a:t>
            </a:r>
            <a:endParaRPr lang="en-US"/>
          </a:p>
          <a:p>
            <a:endParaRPr lang="en-US">
              <a:solidFill>
                <a:srgbClr val="0E2A2F"/>
              </a:solidFill>
              <a:latin typeface="Times New Roman"/>
              <a:ea typeface="+mn-lt"/>
              <a:cs typeface="Times New Roman"/>
            </a:endParaRPr>
          </a:p>
          <a:p>
            <a:r>
              <a:rPr lang="en-US">
                <a:solidFill>
                  <a:srgbClr val="026855"/>
                </a:solidFill>
                <a:ea typeface="+mn-lt"/>
                <a:cs typeface="+mn-lt"/>
              </a:rPr>
              <a:t>•</a:t>
            </a:r>
            <a:r>
              <a:rPr lang="en-US">
                <a:ea typeface="Calibri"/>
                <a:cs typeface="Calibri"/>
              </a:rPr>
              <a:t>Secondary stakeholders</a:t>
            </a:r>
            <a:endParaRPr lang="en-US"/>
          </a:p>
          <a:p>
            <a:r>
              <a:rPr lang="en-US">
                <a:ea typeface="Calibri"/>
                <a:cs typeface="Calibri"/>
              </a:rPr>
              <a:t>    -Public/Community, Aviation Authorities(DGCA), Air Traffic Control</a:t>
            </a:r>
            <a:endParaRPr lang="en-US"/>
          </a:p>
          <a:p>
            <a:endParaRPr lang="en-US">
              <a:solidFill>
                <a:srgbClr val="0E2A2F"/>
              </a:solidFill>
              <a:ea typeface="+mn-lt"/>
              <a:cs typeface="+mn-lt"/>
            </a:endParaRPr>
          </a:p>
          <a:p>
            <a:r>
              <a:rPr lang="en-US">
                <a:solidFill>
                  <a:srgbClr val="026855"/>
                </a:solidFill>
                <a:ea typeface="+mn-lt"/>
                <a:cs typeface="+mn-lt"/>
              </a:rPr>
              <a:t>•</a:t>
            </a:r>
            <a:r>
              <a:rPr lang="en-US">
                <a:ea typeface="Calibri"/>
                <a:cs typeface="Calibri"/>
              </a:rPr>
              <a:t>Who benefits if the problem is solved?</a:t>
            </a:r>
            <a:endParaRPr lang="en-US"/>
          </a:p>
          <a:p>
            <a:r>
              <a:rPr lang="en-US">
                <a:ea typeface="Calibri"/>
                <a:cs typeface="Calibri"/>
              </a:rPr>
              <a:t>  -Commercial Logistics &amp; E-Commerce Companies, End Consumers</a:t>
            </a:r>
          </a:p>
          <a:p>
            <a:r>
              <a:rPr lang="en-US">
                <a:ea typeface="Calibri"/>
                <a:cs typeface="Calibri"/>
              </a:rPr>
              <a:t>  -United Nations SDGs Satisfied(</a:t>
            </a:r>
            <a:r>
              <a:rPr lang="en-US" err="1">
                <a:ea typeface="Calibri"/>
                <a:cs typeface="Calibri"/>
              </a:rPr>
              <a:t>Sustaina</a:t>
            </a:r>
            <a:r>
              <a:rPr lang="en-US">
                <a:ea typeface="Calibri"/>
                <a:cs typeface="Calibri"/>
              </a:rPr>
              <a:t>ble Development Goals)</a:t>
            </a:r>
          </a:p>
          <a:p>
            <a:r>
              <a:rPr lang="en-US">
                <a:ea typeface="Calibri"/>
                <a:cs typeface="Calibri"/>
              </a:rPr>
              <a:t>   1)SDG-7 Affordable and Clean Energy</a:t>
            </a:r>
          </a:p>
          <a:p>
            <a:r>
              <a:rPr lang="en-US">
                <a:ea typeface="Calibri"/>
                <a:cs typeface="Calibri"/>
              </a:rPr>
              <a:t>   2)SDG-9 Industry, Innovation and Infrastructure</a:t>
            </a:r>
            <a:br>
              <a:rPr lang="en-US">
                <a:ea typeface="Calibri"/>
                <a:cs typeface="Calibri"/>
              </a:rPr>
            </a:br>
            <a:r>
              <a:rPr lang="en-US">
                <a:ea typeface="Calibri"/>
                <a:cs typeface="Calibri"/>
              </a:rPr>
              <a:t>   3)SDG-11  Sustainable Cities and Communities</a:t>
            </a:r>
          </a:p>
          <a:p>
            <a:r>
              <a:rPr lang="en-US">
                <a:ea typeface="Calibri"/>
                <a:cs typeface="Calibri"/>
              </a:rPr>
              <a:t>   4)SDG-13  Climate Action</a:t>
            </a:r>
            <a:br>
              <a:rPr lang="en-US">
                <a:ea typeface="Calibri"/>
                <a:cs typeface="Calibri"/>
              </a:rPr>
            </a:br>
            <a:endParaRPr lang="en-US">
              <a:ea typeface="Calibri"/>
              <a:cs typeface="Calibri"/>
            </a:endParaRPr>
          </a:p>
          <a:p>
            <a:endParaRPr lang="en-US">
              <a:ea typeface="Calibri"/>
              <a:cs typeface="Calibri"/>
            </a:endParaRPr>
          </a:p>
          <a:p>
            <a:pPr>
              <a:spcAft>
                <a:spcPts val="1000"/>
              </a:spcAft>
            </a:pPr>
            <a:endParaRPr lang="en-US">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CURRENT SITUATION &amp; CONTEXT</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ea typeface="Calibri"/>
                <a:cs typeface="Calibri"/>
              </a:rPr>
              <a:t>Closed Loops</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Existing scenario, background and how things work today</a:t>
            </a:r>
            <a:endParaRPr lang="en-US" sz="1800"/>
          </a:p>
        </p:txBody>
      </p:sp>
      <p:sp>
        <p:nvSpPr>
          <p:cNvPr id="10" name="Prompts"/>
          <p:cNvSpPr txBox="1"/>
          <p:nvPr/>
        </p:nvSpPr>
        <p:spPr>
          <a:xfrm>
            <a:off x="452120" y="1915160"/>
            <a:ext cx="11013440" cy="421640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latin typeface="Times New Roman"/>
                <a:cs typeface="Times New Roman"/>
              </a:rPr>
              <a:t>Existing scenario and background:</a:t>
            </a:r>
          </a:p>
          <a:p>
            <a:pPr marL="736600" lvl="1" indent="-279400">
              <a:spcAft>
                <a:spcPts val="1000"/>
              </a:spcAft>
              <a:buClr>
                <a:schemeClr val="accent1"/>
              </a:buClr>
              <a:buSzPct val="100000"/>
              <a:buFont typeface="Courier New"/>
              <a:buChar char="o"/>
            </a:pPr>
            <a:r>
              <a:rPr lang="en-US" dirty="0">
                <a:latin typeface="Times New Roman"/>
                <a:ea typeface="Calibri"/>
                <a:cs typeface="Times New Roman"/>
              </a:rPr>
              <a:t>Currently the delivery drones are being used in some part of the world which aren’t completely autonomous, energy efficient or highly efficient in commercial logistic purposes. For delivery, the designed drones land and take off vertically and have the customer address to carry the cargos.</a:t>
            </a:r>
          </a:p>
          <a:p>
            <a:pPr marL="279400" indent="-279400">
              <a:spcAft>
                <a:spcPts val="1000"/>
              </a:spcAft>
              <a:buClr>
                <a:schemeClr val="accent1"/>
              </a:buClr>
              <a:buSzPct val="100000"/>
              <a:buChar char="•"/>
            </a:pPr>
            <a:r>
              <a:rPr lang="en-US" dirty="0">
                <a:latin typeface="Times New Roman"/>
                <a:cs typeface="Times New Roman"/>
              </a:rPr>
              <a:t>Relevant data or facts (if available):</a:t>
            </a:r>
            <a:endParaRPr lang="en-US" dirty="0">
              <a:latin typeface="Times New Roman"/>
              <a:ea typeface="Calibri"/>
              <a:cs typeface="Times New Roman"/>
            </a:endParaRPr>
          </a:p>
          <a:p>
            <a:pPr marL="736600" lvl="1" indent="-279400">
              <a:spcAft>
                <a:spcPts val="1000"/>
              </a:spcAft>
              <a:buClr>
                <a:schemeClr val="accent1"/>
              </a:buClr>
              <a:buSzPct val="100000"/>
              <a:buFont typeface="Courier New"/>
              <a:buChar char="o"/>
            </a:pPr>
            <a:r>
              <a:rPr lang="en-US" dirty="0">
                <a:latin typeface="Times New Roman"/>
                <a:ea typeface="+mn-lt"/>
                <a:cs typeface="Times New Roman"/>
              </a:rPr>
              <a:t>The Company Zipline focuses on medical supplies, groceries, and retail deliveries, while Wing specializes in residential food and retail delivery. Amazon Prime Air delivers small packages directly to customers, </a:t>
            </a:r>
            <a:r>
              <a:rPr lang="en-US" dirty="0" err="1">
                <a:latin typeface="Times New Roman"/>
                <a:ea typeface="+mn-lt"/>
                <a:cs typeface="Times New Roman"/>
              </a:rPr>
              <a:t>Matternet</a:t>
            </a:r>
            <a:r>
              <a:rPr lang="en-US" dirty="0">
                <a:latin typeface="Times New Roman"/>
                <a:ea typeface="+mn-lt"/>
                <a:cs typeface="Times New Roman"/>
              </a:rPr>
              <a:t> focuses on transporting medical samples and medicines between hospitals, and </a:t>
            </a:r>
            <a:r>
              <a:rPr lang="en-US" dirty="0" err="1">
                <a:latin typeface="Times New Roman"/>
                <a:ea typeface="+mn-lt"/>
                <a:cs typeface="Times New Roman"/>
              </a:rPr>
              <a:t>Flytrex</a:t>
            </a:r>
            <a:r>
              <a:rPr lang="en-US" dirty="0">
                <a:latin typeface="Times New Roman"/>
                <a:ea typeface="+mn-lt"/>
                <a:cs typeface="Times New Roman"/>
              </a:rPr>
              <a:t> provides rapid suburban delivery of food and retail products.</a:t>
            </a:r>
            <a:endParaRPr lang="en-US" dirty="0">
              <a:latin typeface="Times New Roman"/>
              <a:ea typeface="Calibri"/>
              <a:cs typeface="Times New Roman"/>
            </a:endParaRPr>
          </a:p>
          <a:p>
            <a:pPr marL="279400" indent="-279400">
              <a:spcAft>
                <a:spcPts val="1000"/>
              </a:spcAft>
              <a:buClr>
                <a:schemeClr val="accent1"/>
              </a:buClr>
              <a:buSzPct val="100000"/>
              <a:buChar char="•"/>
            </a:pPr>
            <a:r>
              <a:rPr lang="en-US" dirty="0">
                <a:latin typeface="Times New Roman"/>
                <a:cs typeface="Times New Roman"/>
              </a:rPr>
              <a:t>Current workflow, step by step</a:t>
            </a:r>
          </a:p>
          <a:p>
            <a:pPr marL="736600" lvl="1" indent="-279400">
              <a:spcAft>
                <a:spcPts val="1000"/>
              </a:spcAft>
              <a:buClr>
                <a:schemeClr val="accent1"/>
              </a:buClr>
              <a:buSzPct val="100000"/>
              <a:buFont typeface="Courier New"/>
              <a:buChar char="o"/>
            </a:pPr>
            <a:r>
              <a:rPr lang="en-US" dirty="0">
                <a:latin typeface="Times New Roman"/>
                <a:ea typeface="Calibri"/>
                <a:cs typeface="Times New Roman"/>
              </a:rPr>
              <a:t>The UAV is loaded with the package --&gt; Autonomously(not necessarily) travel to the location --&gt; Drop/Land the package --&gt; Return to the warehouse for restocking or charging.</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KEY CHALLENGES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rPr>
              <a:t>Closed Loop</a:t>
            </a:r>
            <a:endParaRPr lang="en-US"/>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Main difficulties, bottlenecks, root causes and </a:t>
            </a:r>
            <a:r>
              <a:rPr lang="en-US" b="1">
                <a:solidFill>
                  <a:schemeClr val="accent2"/>
                </a:solidFill>
              </a:rPr>
              <a:t>consequences</a:t>
            </a:r>
            <a:endParaRPr lang="en-US" sz="1800">
              <a:ea typeface="Calibri"/>
              <a:cs typeface="Calibri"/>
            </a:endParaRPr>
          </a:p>
        </p:txBody>
      </p:sp>
      <p:sp>
        <p:nvSpPr>
          <p:cNvPr id="10" name="Prompts"/>
          <p:cNvSpPr txBox="1"/>
          <p:nvPr/>
        </p:nvSpPr>
        <p:spPr>
          <a:xfrm>
            <a:off x="915717" y="2148840"/>
            <a:ext cx="10338875" cy="3075474"/>
          </a:xfrm>
          <a:prstGeom prst="rect">
            <a:avLst/>
          </a:prstGeom>
          <a:noFill/>
          <a:ln/>
        </p:spPr>
        <p:txBody>
          <a:bodyPr wrap="square" lIns="0" tIns="0" rIns="0" bIns="0" rtlCol="0" anchor="t"/>
          <a:lstStyle/>
          <a:p>
            <a:pPr marL="279400" indent="-279400">
              <a:spcAft>
                <a:spcPts val="1000"/>
              </a:spcAft>
              <a:buClr>
                <a:schemeClr val="accent1"/>
              </a:buClr>
              <a:buSzPct val="100000"/>
              <a:buFont typeface="Arial"/>
              <a:buChar char="•"/>
            </a:pPr>
            <a:r>
              <a:rPr lang="en-US" sz="1800" dirty="0"/>
              <a:t>Main difficulties and bottlenecks</a:t>
            </a:r>
            <a:br>
              <a:rPr lang="en-US" dirty="0"/>
            </a:br>
            <a:r>
              <a:rPr lang="en-US" sz="1600" dirty="0">
                <a:latin typeface="Times New Roman"/>
                <a:ea typeface="+mn-lt"/>
                <a:cs typeface="Times New Roman"/>
              </a:rPr>
              <a:t>  -Ground delivery vehicles are impeded by urban congestion. </a:t>
            </a:r>
            <a:br>
              <a:rPr lang="en-US" sz="1600" dirty="0">
                <a:latin typeface="Times New Roman"/>
                <a:ea typeface="+mn-lt"/>
                <a:cs typeface="Times New Roman"/>
              </a:rPr>
            </a:br>
            <a:r>
              <a:rPr lang="en-US" sz="1600" dirty="0">
                <a:latin typeface="Times New Roman"/>
                <a:ea typeface="+mn-lt"/>
                <a:cs typeface="Times New Roman"/>
              </a:rPr>
              <a:t>  -Navigating complex urban environment is difficult for fixed wings and </a:t>
            </a:r>
            <a:r>
              <a:rPr lang="en-US" sz="1600" dirty="0" err="1">
                <a:latin typeface="Times New Roman"/>
                <a:ea typeface="+mn-lt"/>
                <a:cs typeface="Times New Roman"/>
              </a:rPr>
              <a:t>multirotors</a:t>
            </a:r>
            <a:r>
              <a:rPr lang="en-US" sz="1600" dirty="0">
                <a:latin typeface="Times New Roman"/>
                <a:ea typeface="+mn-lt"/>
                <a:cs typeface="Times New Roman"/>
              </a:rPr>
              <a:t> they are hindered by battery life                and produce acoustic pollution</a:t>
            </a:r>
            <a:r>
              <a:rPr lang="en-US" sz="1600" dirty="0">
                <a:latin typeface="Calibri"/>
                <a:ea typeface="+mn-lt"/>
                <a:cs typeface="Calibri"/>
              </a:rPr>
              <a:t>.</a:t>
            </a:r>
            <a:endParaRPr lang="en-US" sz="1600" dirty="0">
              <a:ea typeface="Calibri"/>
              <a:cs typeface="Calibri"/>
            </a:endParaRPr>
          </a:p>
          <a:p>
            <a:pPr marL="279400" indent="-279400">
              <a:spcAft>
                <a:spcPts val="1000"/>
              </a:spcAft>
              <a:buClr>
                <a:schemeClr val="accent1"/>
              </a:buClr>
              <a:buSzPct val="100000"/>
              <a:buChar char="•"/>
            </a:pPr>
            <a:r>
              <a:rPr lang="en-US" sz="1800" dirty="0"/>
              <a:t>Root causes behind </a:t>
            </a:r>
            <a:r>
              <a:rPr lang="en-US" dirty="0"/>
              <a:t>them</a:t>
            </a:r>
            <a:br>
              <a:rPr lang="en-US" dirty="0"/>
            </a:br>
            <a:r>
              <a:rPr lang="en-US" sz="1600" dirty="0">
                <a:latin typeface="Times New Roman"/>
                <a:cs typeface="Times New Roman"/>
              </a:rPr>
              <a:t>  -Current</a:t>
            </a:r>
            <a:r>
              <a:rPr lang="en-US" sz="1600" dirty="0">
                <a:latin typeface="Times New Roman"/>
                <a:ea typeface="+mn-lt"/>
                <a:cs typeface="Times New Roman"/>
              </a:rPr>
              <a:t> UAV delivery solutions possess strict physical limitations that prevent effective standalone use. </a:t>
            </a:r>
            <a:br>
              <a:rPr lang="en-US" sz="1600" dirty="0">
                <a:latin typeface="Times New Roman"/>
                <a:ea typeface="+mn-lt"/>
                <a:cs typeface="Times New Roman"/>
              </a:rPr>
            </a:br>
            <a:r>
              <a:rPr lang="en-US" sz="1600" dirty="0">
                <a:latin typeface="Times New Roman"/>
                <a:ea typeface="Calibri"/>
                <a:cs typeface="Times New Roman"/>
              </a:rPr>
              <a:t>  -Severe congestions in Urban environment. </a:t>
            </a:r>
            <a:br>
              <a:rPr lang="en-US" sz="1600" dirty="0">
                <a:latin typeface="Times New Roman"/>
                <a:ea typeface="Calibri"/>
                <a:cs typeface="Times New Roman"/>
              </a:rPr>
            </a:br>
            <a:r>
              <a:rPr lang="en-US" sz="1600" dirty="0">
                <a:latin typeface="Times New Roman"/>
                <a:ea typeface="Calibri"/>
                <a:cs typeface="Times New Roman"/>
              </a:rPr>
              <a:t>  -Navigation constraint for standalone fixed wing in urban environment.</a:t>
            </a:r>
            <a:endParaRPr lang="en-US" dirty="0"/>
          </a:p>
          <a:p>
            <a:pPr marL="279400" indent="-279400">
              <a:spcAft>
                <a:spcPts val="1000"/>
              </a:spcAft>
              <a:buClr>
                <a:schemeClr val="accent1"/>
              </a:buClr>
              <a:buSzPct val="100000"/>
              <a:buChar char="•"/>
            </a:pPr>
            <a:r>
              <a:rPr lang="en-US" sz="1800" dirty="0"/>
              <a:t>Consequences of leaving them unsolved</a:t>
            </a:r>
            <a:br>
              <a:rPr lang="en-US" dirty="0">
                <a:ea typeface="Calibri"/>
                <a:cs typeface="Calibri"/>
              </a:rPr>
            </a:br>
            <a:r>
              <a:rPr lang="en-US" sz="1600" dirty="0">
                <a:ea typeface="Calibri"/>
                <a:cs typeface="Calibri"/>
              </a:rPr>
              <a:t>  -Increase in delivery durations which leads to increase in carbon emissions. Logistics also experiences higher                transportation costs. Ultimately, leaving end-user unsatisfied with the service. </a:t>
            </a:r>
            <a:br>
              <a:rPr lang="en-US" dirty="0">
                <a:ea typeface="Calibri"/>
                <a:cs typeface="Calibri"/>
              </a:rPr>
            </a:br>
            <a:br>
              <a:rPr lang="en-US" dirty="0"/>
            </a:br>
            <a:endParaRPr lang="en-US" sz="180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EXISTING SOLUTIONS / APPROACHES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rPr>
              <a:t>Closed Loop</a:t>
            </a:r>
            <a:endParaRPr lang="en-US"/>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already being done, and where it falls short</a:t>
            </a:r>
            <a:endParaRPr lang="en-US" sz="1800"/>
          </a:p>
        </p:txBody>
      </p:sp>
      <p:sp>
        <p:nvSpPr>
          <p:cNvPr id="10" name="Prompts"/>
          <p:cNvSpPr txBox="1"/>
          <p:nvPr/>
        </p:nvSpPr>
        <p:spPr>
          <a:xfrm>
            <a:off x="909186" y="2148840"/>
            <a:ext cx="10353308" cy="3775242"/>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endParaRPr lang="en-US" sz="1800" dirty="0"/>
          </a:p>
          <a:p>
            <a:pPr>
              <a:spcAft>
                <a:spcPts val="1000"/>
              </a:spcAft>
              <a:buClr>
                <a:schemeClr val="accent1"/>
              </a:buClr>
              <a:buSzPct val="100000"/>
            </a:pPr>
            <a:r>
              <a:rPr lang="en-US" dirty="0">
                <a:ea typeface="Calibri"/>
                <a:cs typeface="Calibri"/>
              </a:rPr>
              <a:t>  -Traditional Ground Logistics, Standalone Multi-rotors/VTOLs</a:t>
            </a:r>
          </a:p>
          <a:p>
            <a:pPr marL="279400" indent="-279400">
              <a:spcAft>
                <a:spcPts val="1000"/>
              </a:spcAft>
              <a:buClr>
                <a:schemeClr val="accent1"/>
              </a:buClr>
              <a:buSzPct val="100000"/>
              <a:buChar char="•"/>
            </a:pPr>
            <a:r>
              <a:rPr lang="en-US" sz="1800" dirty="0">
                <a:solidFill>
                  <a:schemeClr val="tx1"/>
                </a:solidFill>
              </a:rPr>
              <a:t>Limitations of each</a:t>
            </a:r>
            <a:endParaRPr lang="en-US" sz="1800" dirty="0"/>
          </a:p>
          <a:p>
            <a:pPr>
              <a:spcAft>
                <a:spcPts val="1000"/>
              </a:spcAft>
              <a:buClr>
                <a:schemeClr val="accent1"/>
              </a:buClr>
              <a:buSzPct val="100000"/>
            </a:pPr>
            <a:r>
              <a:rPr lang="en-US" dirty="0">
                <a:ea typeface="Calibri"/>
                <a:cs typeface="Calibri"/>
              </a:rPr>
              <a:t>  -Urban Congestion, High Carbon Emission, Delays</a:t>
            </a:r>
          </a:p>
          <a:p>
            <a:pPr>
              <a:spcAft>
                <a:spcPts val="1000"/>
              </a:spcAft>
            </a:pPr>
            <a:r>
              <a:rPr lang="en-US" dirty="0">
                <a:ea typeface="Calibri"/>
                <a:cs typeface="Calibri"/>
              </a:rPr>
              <a:t>  -Can Carry Single Package only, Endurance and Range, Last-Mile Delivery issues due to physical hindrances</a:t>
            </a:r>
            <a:endParaRPr lang="en-US" dirty="0"/>
          </a:p>
          <a:p>
            <a:pPr marL="279400" indent="-279400">
              <a:spcAft>
                <a:spcPts val="1000"/>
              </a:spcAft>
              <a:buClr>
                <a:schemeClr val="accent1"/>
              </a:buClr>
              <a:buSzPct val="100000"/>
              <a:buChar char="•"/>
            </a:pPr>
            <a:r>
              <a:rPr lang="en-US" sz="1800" dirty="0">
                <a:solidFill>
                  <a:schemeClr val="tx1"/>
                </a:solidFill>
              </a:rPr>
              <a:t>The gap they leave open (Key Challenges)</a:t>
            </a:r>
          </a:p>
          <a:p>
            <a:pPr>
              <a:spcAft>
                <a:spcPts val="1000"/>
              </a:spcAft>
              <a:buClr>
                <a:schemeClr val="accent1"/>
              </a:buClr>
              <a:buSzPct val="100000"/>
            </a:pPr>
            <a:r>
              <a:rPr lang="en-US" dirty="0">
                <a:ea typeface="Calibri"/>
                <a:cs typeface="Calibri"/>
              </a:rPr>
              <a:t>  -Limited Packages per operation</a:t>
            </a:r>
          </a:p>
          <a:p>
            <a:pPr>
              <a:spcAft>
                <a:spcPts val="1000"/>
              </a:spcAft>
            </a:pPr>
            <a:r>
              <a:rPr lang="en-US" dirty="0">
                <a:ea typeface="Calibri"/>
                <a:cs typeface="Calibri"/>
              </a:rPr>
              <a:t>  -Precision Landing and Last Mile Hinderances</a:t>
            </a:r>
          </a:p>
          <a:p>
            <a:pPr>
              <a:spcAft>
                <a:spcPts val="1000"/>
              </a:spcAft>
            </a:pPr>
            <a:r>
              <a:rPr lang="en-US" dirty="0">
                <a:ea typeface="Calibri"/>
                <a:cs typeface="Calibri"/>
              </a:rPr>
              <a:t>  -Endurance and Range</a:t>
            </a:r>
          </a:p>
          <a:p>
            <a:pPr>
              <a:spcAft>
                <a:spcPts val="1000"/>
              </a:spcAft>
            </a:pP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rPr>
              <a:t>Closed Loop</a:t>
            </a:r>
            <a:endParaRPr lang="en-US"/>
          </a:p>
        </p:txBody>
      </p:sp>
      <p:sp>
        <p:nvSpPr>
          <p:cNvPr id="7" name="Lead Icon Hex"/>
          <p:cNvSpPr/>
          <p:nvPr/>
        </p:nvSpPr>
        <p:spPr>
          <a:xfrm>
            <a:off x="558800" y="11582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50240" y="1218590"/>
            <a:ext cx="274320" cy="274320"/>
          </a:xfrm>
          <a:prstGeom prst="rect">
            <a:avLst/>
          </a:prstGeom>
        </p:spPr>
      </p:pic>
      <p:sp>
        <p:nvSpPr>
          <p:cNvPr id="9" name="Lead Text"/>
          <p:cNvSpPr txBox="1"/>
          <p:nvPr/>
        </p:nvSpPr>
        <p:spPr>
          <a:xfrm>
            <a:off x="1301710" y="1093804"/>
            <a:ext cx="9601200" cy="502920"/>
          </a:xfrm>
          <a:prstGeom prst="rect">
            <a:avLst/>
          </a:prstGeom>
          <a:noFill/>
          <a:ln/>
        </p:spPr>
        <p:txBody>
          <a:bodyPr wrap="square" lIns="0" tIns="0" rIns="0" bIns="0" rtlCol="0" anchor="ctr"/>
          <a:lstStyle/>
          <a:p>
            <a:pPr marL="0" indent="0">
              <a:buNone/>
            </a:pPr>
            <a:r>
              <a:rPr lang="en-US" sz="1800" b="1">
                <a:solidFill>
                  <a:schemeClr val="accent2"/>
                </a:solidFill>
              </a:rPr>
              <a:t>Resources required to solve the problem</a:t>
            </a: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graphicFrame>
        <p:nvGraphicFramePr>
          <p:cNvPr id="11" name="Table 10">
            <a:extLst>
              <a:ext uri="{FF2B5EF4-FFF2-40B4-BE49-F238E27FC236}">
                <a16:creationId xmlns:a16="http://schemas.microsoft.com/office/drawing/2014/main" id="{6899CD01-463D-5D4C-6AF4-1E3B0BD063D3}"/>
              </a:ext>
            </a:extLst>
          </p:cNvPr>
          <p:cNvGraphicFramePr>
            <a:graphicFrameLocks noGrp="1"/>
          </p:cNvGraphicFramePr>
          <p:nvPr>
            <p:extLst>
              <p:ext uri="{D42A27DB-BD31-4B8C-83A1-F6EECF244321}">
                <p14:modId xmlns:p14="http://schemas.microsoft.com/office/powerpoint/2010/main" val="390215352"/>
              </p:ext>
            </p:extLst>
          </p:nvPr>
        </p:nvGraphicFramePr>
        <p:xfrm>
          <a:off x="447040" y="1544320"/>
          <a:ext cx="10947670" cy="4778555"/>
        </p:xfrm>
        <a:graphic>
          <a:graphicData uri="http://schemas.openxmlformats.org/drawingml/2006/table">
            <a:tbl>
              <a:tblPr firstRow="1" bandRow="1">
                <a:tableStyleId>{5C22544A-7EE6-4342-B048-85BDC9FD1C3A}</a:tableStyleId>
              </a:tblPr>
              <a:tblGrid>
                <a:gridCol w="3692476">
                  <a:extLst>
                    <a:ext uri="{9D8B030D-6E8A-4147-A177-3AD203B41FA5}">
                      <a16:colId xmlns:a16="http://schemas.microsoft.com/office/drawing/2014/main" val="2365737731"/>
                    </a:ext>
                  </a:extLst>
                </a:gridCol>
                <a:gridCol w="3627597">
                  <a:extLst>
                    <a:ext uri="{9D8B030D-6E8A-4147-A177-3AD203B41FA5}">
                      <a16:colId xmlns:a16="http://schemas.microsoft.com/office/drawing/2014/main" val="1104837358"/>
                    </a:ext>
                  </a:extLst>
                </a:gridCol>
                <a:gridCol w="3627597">
                  <a:extLst>
                    <a:ext uri="{9D8B030D-6E8A-4147-A177-3AD203B41FA5}">
                      <a16:colId xmlns:a16="http://schemas.microsoft.com/office/drawing/2014/main" val="2340881808"/>
                    </a:ext>
                  </a:extLst>
                </a:gridCol>
              </a:tblGrid>
              <a:tr h="362469">
                <a:tc>
                  <a:txBody>
                    <a:bodyPr/>
                    <a:lstStyle/>
                    <a:p>
                      <a:r>
                        <a:rPr lang="en-GB" dirty="0"/>
                        <a:t>Hardware Requirements</a:t>
                      </a:r>
                    </a:p>
                  </a:txBody>
                  <a:tcPr/>
                </a:tc>
                <a:tc>
                  <a:txBody>
                    <a:bodyPr/>
                    <a:lstStyle/>
                    <a:p>
                      <a:r>
                        <a:rPr lang="en-GB"/>
                        <a:t>Software Requirements</a:t>
                      </a:r>
                    </a:p>
                  </a:txBody>
                  <a:tcPr/>
                </a:tc>
                <a:tc>
                  <a:txBody>
                    <a:bodyPr/>
                    <a:lstStyle/>
                    <a:p>
                      <a:r>
                        <a:rPr lang="en-GB"/>
                        <a:t>Other Requirement</a:t>
                      </a:r>
                    </a:p>
                  </a:txBody>
                  <a:tcPr/>
                </a:tc>
                <a:extLst>
                  <a:ext uri="{0D108BD9-81ED-4DB2-BD59-A6C34878D82A}">
                    <a16:rowId xmlns:a16="http://schemas.microsoft.com/office/drawing/2014/main" val="2892703488"/>
                  </a:ext>
                </a:extLst>
              </a:tr>
              <a:tr h="562451">
                <a:tc>
                  <a:txBody>
                    <a:bodyPr/>
                    <a:lstStyle/>
                    <a:p>
                      <a:pPr lvl="0">
                        <a:buNone/>
                      </a:pPr>
                      <a:r>
                        <a:rPr lang="en-US" sz="1600" b="0" i="0" u="none" strike="noStrike" noProof="0" dirty="0">
                          <a:solidFill>
                            <a:schemeClr val="tx1"/>
                          </a:solidFill>
                          <a:latin typeface="Times New Roman"/>
                          <a:cs typeface="Times New Roman"/>
                        </a:rPr>
                        <a:t>Fixed wing VTOL</a:t>
                      </a:r>
                      <a:endParaRPr lang="en-US" dirty="0"/>
                    </a:p>
                  </a:txBody>
                  <a:tcPr/>
                </a:tc>
                <a:tc>
                  <a:txBody>
                    <a:bodyPr/>
                    <a:lstStyle/>
                    <a:p>
                      <a:pPr lvl="0">
                        <a:buNone/>
                      </a:pPr>
                      <a:r>
                        <a:rPr lang="en-US" sz="1600" b="0" i="0" u="none" strike="noStrike" noProof="0">
                          <a:solidFill>
                            <a:schemeClr val="tx1"/>
                          </a:solidFill>
                          <a:latin typeface="Times New Roman"/>
                          <a:cs typeface="Times New Roman"/>
                        </a:rPr>
                        <a:t>Swarm Deployment Logic</a:t>
                      </a:r>
                      <a:endParaRPr lang="en-US"/>
                    </a:p>
                  </a:txBody>
                  <a:tcPr/>
                </a:tc>
                <a:tc>
                  <a:txBody>
                    <a:bodyPr/>
                    <a:lstStyle/>
                    <a:p>
                      <a:r>
                        <a:rPr lang="en-GB" sz="1600">
                          <a:latin typeface="Times New Roman"/>
                          <a:cs typeface="Times New Roman"/>
                        </a:rPr>
                        <a:t>Legal Framework And Intellectual Property</a:t>
                      </a:r>
                    </a:p>
                  </a:txBody>
                  <a:tcPr/>
                </a:tc>
                <a:extLst>
                  <a:ext uri="{0D108BD9-81ED-4DB2-BD59-A6C34878D82A}">
                    <a16:rowId xmlns:a16="http://schemas.microsoft.com/office/drawing/2014/main" val="1154504384"/>
                  </a:ext>
                </a:extLst>
              </a:tr>
              <a:tr h="424963">
                <a:tc>
                  <a:txBody>
                    <a:bodyPr/>
                    <a:lstStyle/>
                    <a:p>
                      <a:pPr lvl="0">
                        <a:buNone/>
                      </a:pPr>
                      <a:r>
                        <a:rPr lang="en-US" sz="1600" b="0" i="0" u="none" strike="noStrike" noProof="0">
                          <a:solidFill>
                            <a:schemeClr val="tx1"/>
                          </a:solidFill>
                          <a:latin typeface="Times New Roman"/>
                          <a:cs typeface="Times New Roman"/>
                        </a:rPr>
                        <a:t>Swarm of payload carrying multi-rotors </a:t>
                      </a:r>
                      <a:endParaRPr lang="en-US"/>
                    </a:p>
                  </a:txBody>
                  <a:tcPr/>
                </a:tc>
                <a:tc>
                  <a:txBody>
                    <a:bodyPr/>
                    <a:lstStyle/>
                    <a:p>
                      <a:pPr lvl="0">
                        <a:buNone/>
                      </a:pPr>
                      <a:r>
                        <a:rPr lang="en-US" sz="1600" b="0" i="0" u="none" strike="noStrike" noProof="0">
                          <a:solidFill>
                            <a:schemeClr val="tx1"/>
                          </a:solidFill>
                          <a:latin typeface="Times New Roman"/>
                          <a:cs typeface="Times New Roman"/>
                        </a:rPr>
                        <a:t>Mid-Air Recovery Algorithms  </a:t>
                      </a:r>
                      <a:endParaRPr lang="en-US"/>
                    </a:p>
                  </a:txBody>
                  <a:tcPr/>
                </a:tc>
                <a:tc>
                  <a:txBody>
                    <a:bodyPr/>
                    <a:lstStyle/>
                    <a:p>
                      <a:r>
                        <a:rPr lang="en-GB" sz="1600">
                          <a:latin typeface="Times New Roman"/>
                          <a:cs typeface="Times New Roman"/>
                        </a:rPr>
                        <a:t>Infrastructure and Testing Facilities</a:t>
                      </a:r>
                    </a:p>
                  </a:txBody>
                  <a:tcPr/>
                </a:tc>
                <a:extLst>
                  <a:ext uri="{0D108BD9-81ED-4DB2-BD59-A6C34878D82A}">
                    <a16:rowId xmlns:a16="http://schemas.microsoft.com/office/drawing/2014/main" val="2963029280"/>
                  </a:ext>
                </a:extLst>
              </a:tr>
              <a:tr h="424963">
                <a:tc>
                  <a:txBody>
                    <a:bodyPr/>
                    <a:lstStyle/>
                    <a:p>
                      <a:pPr lvl="0">
                        <a:buNone/>
                      </a:pPr>
                      <a:r>
                        <a:rPr lang="en-US" sz="1600" b="0" i="0" u="none" strike="noStrike" noProof="0" dirty="0">
                          <a:solidFill>
                            <a:schemeClr val="tx1"/>
                          </a:solidFill>
                          <a:latin typeface="Times New Roman"/>
                          <a:cs typeface="Times New Roman"/>
                        </a:rPr>
                        <a:t>Acoustic Camouflage Propellers </a:t>
                      </a:r>
                      <a:endParaRPr lang="en-US" dirty="0"/>
                    </a:p>
                  </a:txBody>
                  <a:tcPr/>
                </a:tc>
                <a:tc>
                  <a:txBody>
                    <a:bodyPr/>
                    <a:lstStyle/>
                    <a:p>
                      <a:pPr lvl="0">
                        <a:buNone/>
                      </a:pPr>
                      <a:r>
                        <a:rPr lang="en-US" sz="1600" b="0" i="0" u="none" strike="noStrike" noProof="0">
                          <a:solidFill>
                            <a:schemeClr val="tx1"/>
                          </a:solidFill>
                          <a:latin typeface="Times New Roman"/>
                          <a:cs typeface="Times New Roman"/>
                        </a:rPr>
                        <a:t>Dynamic Abort Sequence Programming</a:t>
                      </a:r>
                      <a:endParaRPr lang="en-US" err="1"/>
                    </a:p>
                  </a:txBody>
                  <a:tcPr/>
                </a:tc>
                <a:tc>
                  <a:txBody>
                    <a:bodyPr/>
                    <a:lstStyle/>
                    <a:p>
                      <a:r>
                        <a:rPr lang="en-GB" sz="1600">
                          <a:latin typeface="Times New Roman"/>
                          <a:cs typeface="Times New Roman"/>
                        </a:rPr>
                        <a:t>Financial And Capital Resources</a:t>
                      </a:r>
                    </a:p>
                  </a:txBody>
                  <a:tcPr/>
                </a:tc>
                <a:extLst>
                  <a:ext uri="{0D108BD9-81ED-4DB2-BD59-A6C34878D82A}">
                    <a16:rowId xmlns:a16="http://schemas.microsoft.com/office/drawing/2014/main" val="1044680500"/>
                  </a:ext>
                </a:extLst>
              </a:tr>
              <a:tr h="562451">
                <a:tc>
                  <a:txBody>
                    <a:bodyPr/>
                    <a:lstStyle/>
                    <a:p>
                      <a:pPr lvl="0">
                        <a:buNone/>
                      </a:pPr>
                      <a:r>
                        <a:rPr lang="en-US" sz="1600" b="0" i="0" u="none" strike="noStrike" noProof="0">
                          <a:solidFill>
                            <a:schemeClr val="tx1"/>
                          </a:solidFill>
                          <a:latin typeface="Times New Roman"/>
                          <a:cs typeface="Times New Roman"/>
                        </a:rPr>
                        <a:t>Navigation sensors </a:t>
                      </a:r>
                      <a:endParaRPr lang="en-US"/>
                    </a:p>
                  </a:txBody>
                  <a:tcPr/>
                </a:tc>
                <a:tc>
                  <a:txBody>
                    <a:bodyPr/>
                    <a:lstStyle/>
                    <a:p>
                      <a:pPr lvl="0">
                        <a:buNone/>
                      </a:pPr>
                      <a:r>
                        <a:rPr lang="en-US" sz="1600" b="0" i="0" u="none" strike="noStrike" noProof="0">
                          <a:solidFill>
                            <a:schemeClr val="tx1"/>
                          </a:solidFill>
                          <a:latin typeface="Times New Roman"/>
                          <a:cs typeface="Times New Roman"/>
                        </a:rPr>
                        <a:t>Redundancy &amp; Flight Controllers </a:t>
                      </a:r>
                      <a:endParaRPr lang="en-US"/>
                    </a:p>
                  </a:txBody>
                  <a:tcPr/>
                </a:tc>
                <a:tc>
                  <a:txBody>
                    <a:bodyPr/>
                    <a:lstStyle/>
                    <a:p>
                      <a:r>
                        <a:rPr lang="en-GB" sz="1600">
                          <a:latin typeface="Times New Roman"/>
                          <a:ea typeface="+mn-lt"/>
                          <a:cs typeface="Times New Roman"/>
                        </a:rPr>
                        <a:t>Regulatory, Legal and Compliance Resources</a:t>
                      </a:r>
                    </a:p>
                  </a:txBody>
                  <a:tcPr/>
                </a:tc>
                <a:extLst>
                  <a:ext uri="{0D108BD9-81ED-4DB2-BD59-A6C34878D82A}">
                    <a16:rowId xmlns:a16="http://schemas.microsoft.com/office/drawing/2014/main" val="3032088561"/>
                  </a:ext>
                </a:extLst>
              </a:tr>
              <a:tr h="562451">
                <a:tc>
                  <a:txBody>
                    <a:bodyPr/>
                    <a:lstStyle/>
                    <a:p>
                      <a:pPr lvl="0">
                        <a:buNone/>
                      </a:pPr>
                      <a:r>
                        <a:rPr lang="en-US" sz="1600" b="0" i="0" u="none" strike="noStrike" noProof="0">
                          <a:solidFill>
                            <a:schemeClr val="tx1"/>
                          </a:solidFill>
                          <a:latin typeface="Times New Roman"/>
                          <a:cs typeface="Times New Roman"/>
                        </a:rPr>
                        <a:t>Energy Harvesting Systems </a:t>
                      </a:r>
                      <a:endParaRPr lang="en-US"/>
                    </a:p>
                  </a:txBody>
                  <a:tcPr/>
                </a:tc>
                <a:tc>
                  <a:txBody>
                    <a:bodyPr/>
                    <a:lstStyle/>
                    <a:p>
                      <a:pPr lvl="0">
                        <a:buNone/>
                      </a:pPr>
                      <a:r>
                        <a:rPr lang="en-GB" sz="1600" b="0" i="0" u="none" strike="noStrike" noProof="0">
                          <a:latin typeface="Times New Roman"/>
                          <a:ea typeface="Calibri"/>
                          <a:cs typeface="Times New Roman"/>
                        </a:rPr>
                        <a:t>Power Management Software</a:t>
                      </a:r>
                      <a:endParaRPr lang="en-US" sz="1600">
                        <a:latin typeface="Times New Roman"/>
                        <a:cs typeface="Times New Roman"/>
                      </a:endParaRPr>
                    </a:p>
                  </a:txBody>
                  <a:tcPr/>
                </a:tc>
                <a:tc>
                  <a:txBody>
                    <a:bodyPr/>
                    <a:lstStyle/>
                    <a:p>
                      <a:r>
                        <a:rPr lang="en-GB" sz="1600">
                          <a:latin typeface="Times New Roman"/>
                          <a:ea typeface="Cambria"/>
                          <a:cs typeface="Times New Roman"/>
                        </a:rPr>
                        <a:t>Cloud Data and Communication Infrastructure</a:t>
                      </a:r>
                    </a:p>
                  </a:txBody>
                  <a:tcPr/>
                </a:tc>
                <a:extLst>
                  <a:ext uri="{0D108BD9-81ED-4DB2-BD59-A6C34878D82A}">
                    <a16:rowId xmlns:a16="http://schemas.microsoft.com/office/drawing/2014/main" val="4187950670"/>
                  </a:ext>
                </a:extLst>
              </a:tr>
              <a:tr h="362469">
                <a:tc>
                  <a:txBody>
                    <a:bodyPr/>
                    <a:lstStyle/>
                    <a:p>
                      <a:pPr lvl="0">
                        <a:buNone/>
                      </a:pPr>
                      <a:r>
                        <a:rPr lang="en-GB" sz="1600" b="0" i="0" u="none" strike="noStrike" noProof="0">
                          <a:latin typeface="Times New Roman"/>
                          <a:ea typeface="Calibri"/>
                          <a:cs typeface="Times New Roman"/>
                        </a:rPr>
                        <a:t>Automated Docking Interfaces</a:t>
                      </a:r>
                      <a:endParaRPr lang="en-US" sz="1600">
                        <a:latin typeface="Times New Roman"/>
                        <a:cs typeface="Times New Roman"/>
                      </a:endParaRPr>
                    </a:p>
                  </a:txBody>
                  <a:tcPr/>
                </a:tc>
                <a:tc>
                  <a:txBody>
                    <a:bodyPr/>
                    <a:lstStyle/>
                    <a:p>
                      <a:pPr lvl="0">
                        <a:buNone/>
                      </a:pPr>
                      <a:r>
                        <a:rPr lang="en-GB" sz="1600" b="0" i="0" u="none" strike="noStrike" noProof="0">
                          <a:latin typeface="Calibri"/>
                          <a:ea typeface="Calibri"/>
                          <a:cs typeface="Calibri"/>
                        </a:rPr>
                        <a:t>Signal Relay &amp; Data Integrity Protocols</a:t>
                      </a:r>
                      <a:endParaRPr lang="en-US" sz="1600"/>
                    </a:p>
                  </a:txBody>
                  <a:tcPr/>
                </a:tc>
                <a:tc>
                  <a:txBody>
                    <a:bodyPr/>
                    <a:lstStyle/>
                    <a:p>
                      <a:endParaRPr lang="en-GB" sz="1600">
                        <a:latin typeface="Times New Roman"/>
                        <a:ea typeface="+mn-lt"/>
                        <a:cs typeface="Times New Roman"/>
                      </a:endParaRPr>
                    </a:p>
                  </a:txBody>
                  <a:tcPr/>
                </a:tc>
                <a:extLst>
                  <a:ext uri="{0D108BD9-81ED-4DB2-BD59-A6C34878D82A}">
                    <a16:rowId xmlns:a16="http://schemas.microsoft.com/office/drawing/2014/main" val="367706593"/>
                  </a:ext>
                </a:extLst>
              </a:tr>
              <a:tr h="362469">
                <a:tc>
                  <a:txBody>
                    <a:bodyPr/>
                    <a:lstStyle/>
                    <a:p>
                      <a:pPr lvl="0">
                        <a:buNone/>
                      </a:pPr>
                      <a:r>
                        <a:rPr lang="en-GB" sz="1600" b="0" i="0" u="none" strike="noStrike" noProof="0">
                          <a:latin typeface="Times New Roman"/>
                          <a:ea typeface="Calibri"/>
                          <a:cs typeface="Times New Roman"/>
                        </a:rPr>
                        <a:t>Precision Navigation Sensors</a:t>
                      </a:r>
                      <a:endParaRPr lang="en-US" sz="1600">
                        <a:latin typeface="Times New Roman"/>
                        <a:cs typeface="Times New Roman"/>
                      </a:endParaRPr>
                    </a:p>
                  </a:txBody>
                  <a:tcPr/>
                </a:tc>
                <a:tc>
                  <a:txBody>
                    <a:bodyPr/>
                    <a:lstStyle/>
                    <a:p>
                      <a:r>
                        <a:rPr lang="en-GB" sz="1600">
                          <a:latin typeface="Times New Roman"/>
                          <a:cs typeface="Times New Roman"/>
                        </a:rPr>
                        <a:t>Manual Override Systems</a:t>
                      </a:r>
                    </a:p>
                  </a:txBody>
                  <a:tcPr/>
                </a:tc>
                <a:tc>
                  <a:txBody>
                    <a:bodyPr/>
                    <a:lstStyle/>
                    <a:p>
                      <a:endParaRPr lang="en-GB"/>
                    </a:p>
                  </a:txBody>
                  <a:tcPr/>
                </a:tc>
                <a:extLst>
                  <a:ext uri="{0D108BD9-81ED-4DB2-BD59-A6C34878D82A}">
                    <a16:rowId xmlns:a16="http://schemas.microsoft.com/office/drawing/2014/main" val="1201674716"/>
                  </a:ext>
                </a:extLst>
              </a:tr>
              <a:tr h="362469">
                <a:tc>
                  <a:txBody>
                    <a:bodyPr/>
                    <a:lstStyle/>
                    <a:p>
                      <a:pPr lvl="0">
                        <a:buNone/>
                      </a:pPr>
                      <a:r>
                        <a:rPr lang="en-GB" sz="1600">
                          <a:latin typeface="Times New Roman"/>
                          <a:ea typeface="Calibri"/>
                          <a:cs typeface="Times New Roman"/>
                        </a:rPr>
                        <a:t>Communication and Relay Hardware</a:t>
                      </a:r>
                      <a:endParaRPr lang="en-US" sz="1600">
                        <a:latin typeface="Times New Roman"/>
                        <a:cs typeface="Times New Roman"/>
                      </a:endParaRPr>
                    </a:p>
                  </a:txBody>
                  <a:tcPr/>
                </a:tc>
                <a:tc>
                  <a:txBody>
                    <a:bodyPr/>
                    <a:lstStyle/>
                    <a:p>
                      <a:pPr lvl="0">
                        <a:buNone/>
                      </a:pPr>
                      <a:endParaRPr lang="en-GB"/>
                    </a:p>
                  </a:txBody>
                  <a:tcPr/>
                </a:tc>
                <a:tc>
                  <a:txBody>
                    <a:bodyPr/>
                    <a:lstStyle/>
                    <a:p>
                      <a:pPr lvl="0">
                        <a:buNone/>
                      </a:pPr>
                      <a:endParaRPr lang="en-GB"/>
                    </a:p>
                  </a:txBody>
                  <a:tcPr/>
                </a:tc>
                <a:extLst>
                  <a:ext uri="{0D108BD9-81ED-4DB2-BD59-A6C34878D82A}">
                    <a16:rowId xmlns:a16="http://schemas.microsoft.com/office/drawing/2014/main" val="1284802975"/>
                  </a:ext>
                </a:extLst>
              </a:tr>
              <a:tr h="362469">
                <a:tc>
                  <a:txBody>
                    <a:bodyPr/>
                    <a:lstStyle/>
                    <a:p>
                      <a:pPr lvl="0">
                        <a:buNone/>
                      </a:pPr>
                      <a:r>
                        <a:rPr lang="en-GB" sz="1600" b="0" i="0" u="none" strike="noStrike" noProof="0">
                          <a:latin typeface="Times New Roman"/>
                          <a:ea typeface="Calibri"/>
                          <a:cs typeface="Times New Roman"/>
                        </a:rPr>
                        <a:t>Obstacle Detection Scanners</a:t>
                      </a:r>
                      <a:endParaRPr lang="en-US" sz="1600">
                        <a:latin typeface="Times New Roman"/>
                        <a:cs typeface="Times New Roman"/>
                      </a:endParaRPr>
                    </a:p>
                  </a:txBody>
                  <a:tcPr/>
                </a:tc>
                <a:tc>
                  <a:txBody>
                    <a:bodyPr/>
                    <a:lstStyle/>
                    <a:p>
                      <a:pPr lvl="0">
                        <a:buNone/>
                      </a:pPr>
                      <a:endParaRPr lang="en-GB"/>
                    </a:p>
                  </a:txBody>
                  <a:tcPr/>
                </a:tc>
                <a:tc>
                  <a:txBody>
                    <a:bodyPr/>
                    <a:lstStyle/>
                    <a:p>
                      <a:pPr lvl="0">
                        <a:buNone/>
                      </a:pPr>
                      <a:endParaRPr lang="en-GB"/>
                    </a:p>
                  </a:txBody>
                  <a:tcPr/>
                </a:tc>
                <a:extLst>
                  <a:ext uri="{0D108BD9-81ED-4DB2-BD59-A6C34878D82A}">
                    <a16:rowId xmlns:a16="http://schemas.microsoft.com/office/drawing/2014/main" val="1122976139"/>
                  </a:ext>
                </a:extLst>
              </a:tr>
              <a:tr h="362469">
                <a:tc>
                  <a:txBody>
                    <a:bodyPr/>
                    <a:lstStyle/>
                    <a:p>
                      <a:pPr lvl="0">
                        <a:buNone/>
                      </a:pPr>
                      <a:r>
                        <a:rPr lang="en-GB" sz="1600" dirty="0">
                          <a:latin typeface="Calibri"/>
                          <a:ea typeface="Calibri"/>
                          <a:cs typeface="Calibri"/>
                        </a:rPr>
                        <a:t>Small Scaled </a:t>
                      </a:r>
                      <a:r>
                        <a:rPr lang="en-GB" sz="1600" b="0" i="0" u="none" strike="noStrike" noProof="0" dirty="0">
                          <a:latin typeface="Calibri"/>
                          <a:ea typeface="Calibri"/>
                          <a:cs typeface="Calibri"/>
                        </a:rPr>
                        <a:t>Safety Parachutes</a:t>
                      </a:r>
                      <a:endParaRPr lang="en-GB" sz="1600" dirty="0"/>
                    </a:p>
                  </a:txBody>
                  <a:tcPr/>
                </a:tc>
                <a:tc>
                  <a:txBody>
                    <a:bodyPr/>
                    <a:lstStyle/>
                    <a:p>
                      <a:pPr lvl="0">
                        <a:buNone/>
                      </a:pPr>
                      <a:endParaRPr lang="en-GB"/>
                    </a:p>
                  </a:txBody>
                  <a:tcPr/>
                </a:tc>
                <a:tc>
                  <a:txBody>
                    <a:bodyPr/>
                    <a:lstStyle/>
                    <a:p>
                      <a:pPr lvl="0">
                        <a:buNone/>
                      </a:pPr>
                      <a:endParaRPr lang="en-GB" dirty="0"/>
                    </a:p>
                  </a:txBody>
                  <a:tcPr/>
                </a:tc>
                <a:extLst>
                  <a:ext uri="{0D108BD9-81ED-4DB2-BD59-A6C34878D82A}">
                    <a16:rowId xmlns:a16="http://schemas.microsoft.com/office/drawing/2014/main" val="332181732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INITIAL DIRECTION &amp; EXPECTED OUTCOME</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rPr>
              <a:t>Closed Loop</a:t>
            </a:r>
            <a:endParaRPr lang="en-US"/>
          </a:p>
        </p:txBody>
      </p:sp>
      <p:sp>
        <p:nvSpPr>
          <p:cNvPr id="7" name="Lead Icon Hex"/>
          <p:cNvSpPr/>
          <p:nvPr/>
        </p:nvSpPr>
        <p:spPr>
          <a:xfrm>
            <a:off x="599440" y="123952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701040" y="1299870"/>
            <a:ext cx="274320" cy="274320"/>
          </a:xfrm>
          <a:prstGeom prst="rect">
            <a:avLst/>
          </a:prstGeom>
        </p:spPr>
      </p:pic>
      <p:sp>
        <p:nvSpPr>
          <p:cNvPr id="9" name="Lead Text"/>
          <p:cNvSpPr txBox="1"/>
          <p:nvPr/>
        </p:nvSpPr>
        <p:spPr>
          <a:xfrm>
            <a:off x="1241552" y="12141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Your Expected Outcome?</a:t>
            </a:r>
            <a:endParaRPr lang="en-US" sz="1800"/>
          </a:p>
        </p:txBody>
      </p:sp>
      <p:sp>
        <p:nvSpPr>
          <p:cNvPr id="10" name="Prompts"/>
          <p:cNvSpPr txBox="1"/>
          <p:nvPr/>
        </p:nvSpPr>
        <p:spPr>
          <a:xfrm>
            <a:off x="594360" y="1711960"/>
            <a:ext cx="11226800" cy="458216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latin typeface="Times New Roman"/>
                <a:cs typeface="Times New Roman"/>
              </a:rPr>
              <a:t>What your team intends to do</a:t>
            </a:r>
            <a:r>
              <a:rPr lang="en-US" dirty="0">
                <a:latin typeface="Times New Roman"/>
                <a:cs typeface="Times New Roman"/>
              </a:rPr>
              <a:t>:</a:t>
            </a:r>
            <a:endParaRPr lang="en-US" sz="1800" dirty="0">
              <a:latin typeface="Times New Roman"/>
              <a:cs typeface="Times New Roman"/>
            </a:endParaRPr>
          </a:p>
          <a:p>
            <a:pPr marL="736600" lvl="1" indent="-279400">
              <a:spcAft>
                <a:spcPts val="1000"/>
              </a:spcAft>
              <a:buClr>
                <a:schemeClr val="accent1"/>
              </a:buClr>
              <a:buSzPct val="100000"/>
              <a:buFont typeface="Courier New"/>
              <a:buChar char="o"/>
            </a:pPr>
            <a:r>
              <a:rPr lang="en-US" sz="1600" dirty="0">
                <a:latin typeface="Times New Roman"/>
                <a:ea typeface="+mn-lt"/>
                <a:cs typeface="Times New Roman"/>
              </a:rPr>
              <a:t>Our team intends to build </a:t>
            </a:r>
            <a:r>
              <a:rPr lang="en-US" sz="1600" dirty="0" err="1">
                <a:latin typeface="Times New Roman"/>
                <a:ea typeface="+mn-lt"/>
                <a:cs typeface="Times New Roman"/>
              </a:rPr>
              <a:t>SkyHive</a:t>
            </a:r>
            <a:r>
              <a:rPr lang="en-US" sz="1600" dirty="0">
                <a:latin typeface="Times New Roman"/>
                <a:ea typeface="+mn-lt"/>
                <a:cs typeface="Times New Roman"/>
              </a:rPr>
              <a:t>, an autonomous two-tier delivery network for dense urban areas, where a fixed-wing VTOL flies from a warehouse to a target sector and hovers overhead. This involves a carrier which holds a swarm of small, quiet multirotor drones, which delivers many packages per flight instead of just one. The drones drop their packages in parallel, then dock back on the mothership to recharge and return to base. This makes last-mile delivery faster and cheaper per package, extends the drones’ effective range, and keeps noise and safety within urban limits.</a:t>
            </a:r>
            <a:endParaRPr lang="en-US" sz="1600" dirty="0">
              <a:latin typeface="Times New Roman"/>
              <a:ea typeface="Calibri"/>
              <a:cs typeface="Times New Roman"/>
            </a:endParaRPr>
          </a:p>
          <a:p>
            <a:pPr marL="279400" indent="-279400">
              <a:spcAft>
                <a:spcPts val="1000"/>
              </a:spcAft>
              <a:buClr>
                <a:schemeClr val="accent1"/>
              </a:buClr>
              <a:buSzPct val="100000"/>
              <a:buChar char="•"/>
            </a:pPr>
            <a:r>
              <a:rPr lang="en-US" sz="1800" dirty="0">
                <a:latin typeface="Times New Roman"/>
                <a:cs typeface="Times New Roman"/>
              </a:rPr>
              <a:t>What you want to improve</a:t>
            </a:r>
            <a:r>
              <a:rPr lang="en-US" dirty="0">
                <a:latin typeface="Times New Roman"/>
                <a:cs typeface="Times New Roman"/>
              </a:rPr>
              <a:t>:</a:t>
            </a:r>
            <a:endParaRPr lang="en-US" sz="1800" dirty="0">
              <a:latin typeface="Times New Roman"/>
              <a:ea typeface="Calibri"/>
              <a:cs typeface="Times New Roman"/>
            </a:endParaRPr>
          </a:p>
          <a:p>
            <a:pPr marL="736600" lvl="1" indent="-279400">
              <a:spcAft>
                <a:spcPts val="1000"/>
              </a:spcAft>
              <a:buClr>
                <a:schemeClr val="accent1"/>
              </a:buClr>
              <a:buSzPct val="100000"/>
              <a:buFont typeface="Courier New"/>
              <a:buChar char="o"/>
            </a:pPr>
            <a:r>
              <a:rPr lang="en-US" sz="1600" dirty="0">
                <a:latin typeface="Times New Roman"/>
                <a:ea typeface="+mn-lt"/>
                <a:cs typeface="Times New Roman"/>
              </a:rPr>
              <a:t>We want to improve last-mile delivery in congested cities, where ground vehicles are slow and current drones carry only one package per trip with limited range. </a:t>
            </a:r>
            <a:r>
              <a:rPr lang="en-US" sz="1600" dirty="0" err="1">
                <a:latin typeface="Times New Roman"/>
                <a:ea typeface="+mn-lt"/>
                <a:cs typeface="Times New Roman"/>
              </a:rPr>
              <a:t>SkyHive</a:t>
            </a:r>
            <a:r>
              <a:rPr lang="en-US" sz="1600" dirty="0">
                <a:latin typeface="Times New Roman"/>
                <a:ea typeface="+mn-lt"/>
                <a:cs typeface="Times New Roman"/>
              </a:rPr>
              <a:t> lets one mothership carry and release many drones at once, making deliveries faster and cheaper per package. The drones recharge on the mothership, and quiet propellers and obstacle-avoidance keep operations low-noise and safe.</a:t>
            </a:r>
            <a:endParaRPr lang="en-US" sz="1600" dirty="0">
              <a:latin typeface="Times New Roman"/>
              <a:ea typeface="Calibri"/>
              <a:cs typeface="Times New Roman"/>
            </a:endParaRPr>
          </a:p>
          <a:p>
            <a:pPr marL="279400" indent="-279400">
              <a:spcAft>
                <a:spcPts val="1000"/>
              </a:spcAft>
              <a:buClr>
                <a:schemeClr val="accent1"/>
              </a:buClr>
              <a:buSzPct val="100000"/>
              <a:buChar char="•"/>
            </a:pPr>
            <a:r>
              <a:rPr lang="en-US" sz="1800" dirty="0">
                <a:latin typeface="Times New Roman"/>
                <a:cs typeface="Times New Roman"/>
              </a:rPr>
              <a:t>What successful improvement should you achieve</a:t>
            </a:r>
            <a:r>
              <a:rPr lang="en-US" dirty="0">
                <a:latin typeface="Times New Roman"/>
                <a:cs typeface="Times New Roman"/>
              </a:rPr>
              <a:t>:</a:t>
            </a:r>
            <a:endParaRPr lang="en-US" sz="1600" dirty="0">
              <a:latin typeface="Times New Roman"/>
              <a:ea typeface="+mn-lt"/>
              <a:cs typeface="Times New Roman"/>
            </a:endParaRPr>
          </a:p>
          <a:p>
            <a:pPr marL="736600" lvl="1" indent="-279400">
              <a:spcAft>
                <a:spcPts val="1000"/>
              </a:spcAft>
              <a:buClr>
                <a:schemeClr val="accent1"/>
              </a:buClr>
              <a:buSzPct val="100000"/>
              <a:buFont typeface="Courier New"/>
              <a:buChar char="o"/>
            </a:pPr>
            <a:r>
              <a:rPr lang="en-US" sz="1600" dirty="0">
                <a:ea typeface="+mn-lt"/>
                <a:cs typeface="+mn-lt"/>
              </a:rPr>
              <a:t>Success means delivering many packages in a single mothership flight, with noticeably shorter delivery times and lower cost per package than one-drone-per-trip systems. The drones should also dock and recharge reliably in mid-air, so the full cycle repeats without delay. Finally, operations should stay within urban noise limits, with every drop completed safely or aborted without accidents.</a:t>
            </a:r>
            <a:endParaRPr lang="en-US" sz="1600" dirty="0">
              <a:latin typeface="Times New Roman"/>
              <a:cs typeface="Times New Roman"/>
            </a:endParaRPr>
          </a:p>
          <a:p>
            <a:pPr marL="736600" lvl="1" indent="-279400">
              <a:spcAft>
                <a:spcPts val="1000"/>
              </a:spcAft>
              <a:buClr>
                <a:schemeClr val="accent1"/>
              </a:buClr>
              <a:buSzPct val="100000"/>
              <a:buFont typeface="Courier New"/>
              <a:buChar char="o"/>
            </a:pPr>
            <a:endParaRPr lang="en-US" sz="1600" dirty="0">
              <a:latin typeface="Times New Roman"/>
              <a:cs typeface="Times New Roman"/>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TEAM CONTRIBUTION</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rPr>
              <a:t>Closed Loop</a:t>
            </a:r>
            <a:endParaRPr lang="en-US"/>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Who will handle which part of the execution</a:t>
            </a:r>
            <a:endParaRPr lang="en-US" sz="1800"/>
          </a:p>
        </p:txBody>
      </p:sp>
      <p:graphicFrame>
        <p:nvGraphicFramePr>
          <p:cNvPr id="10" name="Team Contribution Table"/>
          <p:cNvGraphicFramePr>
            <a:graphicFrameLocks noGrp="1"/>
          </p:cNvGraphicFramePr>
          <p:nvPr>
            <p:extLst>
              <p:ext uri="{D42A27DB-BD31-4B8C-83A1-F6EECF244321}">
                <p14:modId xmlns:p14="http://schemas.microsoft.com/office/powerpoint/2010/main" val="3329501550"/>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a:solidFill>
                            <a:schemeClr val="bg1"/>
                          </a:solidFill>
                          <a:latin typeface="Calibri" pitchFamily="34" charset="0"/>
                          <a:ea typeface="Calibri" pitchFamily="34" charset="-122"/>
                          <a:cs typeface="Calibri" pitchFamily="34" charset="-120"/>
                        </a:rPr>
                        <a:t>Team Member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a:solidFill>
                            <a:schemeClr val="bg1"/>
                          </a:solidFill>
                          <a:latin typeface="Calibri" pitchFamily="34" charset="0"/>
                          <a:ea typeface="Calibri" pitchFamily="34" charset="-122"/>
                          <a:cs typeface="Calibri" pitchFamily="34" charset="-120"/>
                        </a:rPr>
                        <a:t>Role</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a:solidFill>
                            <a:schemeClr val="bg1"/>
                          </a:solidFill>
                          <a:latin typeface="Calibri" pitchFamily="34" charset="0"/>
                          <a:ea typeface="Calibri" pitchFamily="34" charset="-122"/>
                          <a:cs typeface="Calibri" pitchFamily="34" charset="-120"/>
                        </a:rPr>
                        <a:t>Responsibility in Execution</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a:solidFill>
                            <a:schemeClr val="tx1"/>
                          </a:solidFill>
                          <a:latin typeface="Calibri"/>
                          <a:ea typeface="Calibri"/>
                          <a:cs typeface="Calibri"/>
                        </a:rPr>
                        <a:t>Member 1 </a:t>
                      </a:r>
                      <a:r>
                        <a:rPr lang="en-US" sz="1400" b="1" i="0" u="none" strike="noStrike" noProof="0">
                          <a:solidFill>
                            <a:schemeClr val="tx1"/>
                          </a:solidFill>
                          <a:latin typeface="Calibri"/>
                          <a:ea typeface="Calibri"/>
                          <a:cs typeface="Calibri"/>
                        </a:rPr>
                        <a:t>–  </a:t>
                      </a:r>
                      <a:r>
                        <a:rPr lang="en-US" sz="1400" b="1">
                          <a:solidFill>
                            <a:schemeClr val="tx1"/>
                          </a:solidFill>
                          <a:latin typeface="Calibri"/>
                          <a:ea typeface="Calibri"/>
                          <a:cs typeface="Calibri"/>
                        </a:rPr>
                        <a:t>K Lokesh</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a:solidFill>
                            <a:schemeClr val="accent5"/>
                          </a:solidFill>
                          <a:latin typeface="Calibri"/>
                          <a:ea typeface="Calibri"/>
                          <a:cs typeface="Calibri"/>
                        </a:rPr>
                        <a:t>Team Lead &amp; Flight Operations Lead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a:solidFill>
                            <a:schemeClr val="accent5"/>
                          </a:solidFill>
                          <a:latin typeface="Calibri"/>
                          <a:ea typeface="Calibri"/>
                          <a:cs typeface="Calibri"/>
                        </a:rPr>
                        <a:t>Overall project coordination, Strategic Pitching, end-to-end system architecture planning, Financial Modelling, </a:t>
                      </a:r>
                      <a:r>
                        <a:rPr lang="en-US" sz="1400" b="0" i="0" u="none" strike="noStrike" noProof="0">
                          <a:solidFill>
                            <a:schemeClr val="accent5"/>
                          </a:solidFill>
                        </a:rPr>
                        <a:t>Compliance &amp; Regulatory Affairs, Overseeing Flight Operations.</a:t>
                      </a:r>
                      <a:endParaRPr lang="en-US" sz="1400">
                        <a:solidFill>
                          <a:schemeClr val="accent5"/>
                        </a:solidFill>
                        <a:latin typeface="Calibri"/>
                        <a:ea typeface="Calibri"/>
                        <a:cs typeface="Calibri"/>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a:solidFill>
                            <a:schemeClr val="tx1"/>
                          </a:solidFill>
                          <a:latin typeface="Calibri"/>
                          <a:ea typeface="Calibri"/>
                          <a:cs typeface="Calibri"/>
                        </a:rPr>
                        <a:t>Member 2 – Harish B</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a:solidFill>
                            <a:schemeClr val="accent5"/>
                          </a:solidFill>
                          <a:latin typeface="Calibri"/>
                          <a:ea typeface="Calibri"/>
                          <a:cs typeface="Calibri"/>
                        </a:rPr>
                        <a:t>Software Lead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Autonomous Mother-Ship VTOL architecture and swarm flight control, computer vision for precision landing and docking(RTK-GPS/optical flow), and smart abort logic.</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a:solidFill>
                            <a:schemeClr val="tx1"/>
                          </a:solidFill>
                          <a:latin typeface="Calibri"/>
                          <a:ea typeface="Calibri"/>
                          <a:cs typeface="Calibri"/>
                        </a:rPr>
                        <a:t>Member 3 – Rahul Kumar G</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a:solidFill>
                            <a:schemeClr val="accent5"/>
                          </a:solidFill>
                          <a:latin typeface="Calibri"/>
                          <a:ea typeface="Calibri"/>
                          <a:cs typeface="Calibri"/>
                        </a:rPr>
                        <a:t>Technical Lead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latin typeface="Calibri"/>
                          <a:ea typeface="Calibri"/>
                          <a:cs typeface="Calibri"/>
                        </a:rPr>
                        <a:t>System Architecture &amp; Interface Control, </a:t>
                      </a:r>
                      <a:r>
                        <a:rPr lang="en-US" sz="1400" b="0" i="0" u="none" strike="noStrike" noProof="0">
                          <a:solidFill>
                            <a:schemeClr val="accent5"/>
                          </a:solidFill>
                        </a:rPr>
                        <a:t>Simulation Pipeline, </a:t>
                      </a:r>
                      <a:r>
                        <a:rPr lang="en-US" sz="1400" b="0" i="0" u="none" strike="noStrike" noProof="0">
                          <a:solidFill>
                            <a:schemeClr val="accent5"/>
                          </a:solidFill>
                          <a:latin typeface="Calibri"/>
                          <a:ea typeface="Calibri"/>
                          <a:cs typeface="Calibri"/>
                        </a:rPr>
                        <a:t>Aerodynamic &amp; Transition Optimization, </a:t>
                      </a:r>
                      <a:r>
                        <a:rPr lang="en-US" sz="1400" b="0" i="0" u="none" strike="noStrike" noProof="0">
                          <a:solidFill>
                            <a:schemeClr val="accent5"/>
                          </a:solidFill>
                        </a:rPr>
                        <a:t>Network &amp; Comms/Telemetry Link, </a:t>
                      </a:r>
                      <a:r>
                        <a:rPr lang="en-US" sz="1400" b="0" i="0" u="none" strike="noStrike" noProof="0">
                          <a:solidFill>
                            <a:schemeClr val="accent5"/>
                          </a:solidFill>
                          <a:latin typeface="Calibri"/>
                          <a:ea typeface="Calibri"/>
                          <a:cs typeface="Calibri"/>
                        </a:rPr>
                        <a:t>Reliability &amp; Flight Readiness Audits.</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a:solidFill>
                            <a:schemeClr val="tx1"/>
                          </a:solidFill>
                          <a:latin typeface="Calibri"/>
                          <a:ea typeface="Calibri"/>
                          <a:cs typeface="Calibri"/>
                        </a:rPr>
                        <a:t>Member 4 – </a:t>
                      </a:r>
                      <a:r>
                        <a:rPr lang="en-US" sz="1400" b="1" err="1">
                          <a:solidFill>
                            <a:schemeClr val="tx1"/>
                          </a:solidFill>
                          <a:latin typeface="Calibri"/>
                          <a:ea typeface="Calibri"/>
                          <a:cs typeface="Calibri"/>
                        </a:rPr>
                        <a:t>Gurusharvesh</a:t>
                      </a:r>
                      <a:r>
                        <a:rPr lang="en-US" sz="1400" b="1">
                          <a:solidFill>
                            <a:schemeClr val="tx1"/>
                          </a:solidFill>
                          <a:latin typeface="Calibri"/>
                          <a:ea typeface="Calibri"/>
                          <a:cs typeface="Calibri"/>
                        </a:rPr>
                        <a:t> B</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a:solidFill>
                            <a:schemeClr val="accent5"/>
                          </a:solidFill>
                          <a:latin typeface="Calibri"/>
                          <a:ea typeface="Calibri"/>
                          <a:cs typeface="Calibri"/>
                        </a:rPr>
                        <a:t>Hardware Lead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Resource Procurement &amp; BOM Management, </a:t>
                      </a:r>
                      <a:r>
                        <a:rPr lang="en-US" sz="1400" b="0" i="0" u="none" strike="noStrike" noProof="0">
                          <a:solidFill>
                            <a:schemeClr val="accent5"/>
                          </a:solidFill>
                          <a:latin typeface="Calibri"/>
                          <a:ea typeface="Calibri"/>
                          <a:cs typeface="Calibri"/>
                        </a:rPr>
                        <a:t>Prototyping &amp; Fabrication, </a:t>
                      </a:r>
                      <a:r>
                        <a:rPr lang="en-US" sz="1400" b="0" i="0" u="none" strike="noStrike" noProof="0">
                          <a:solidFill>
                            <a:schemeClr val="accent5"/>
                          </a:solidFill>
                        </a:rPr>
                        <a:t>Hardware Assembly &amp; Systems Integration, Testing &amp; Validation, and Quality Assurance.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1320</Words>
  <Application>Microsoft Office PowerPoint</Application>
  <PresentationFormat>Widescreen</PresentationFormat>
  <Paragraphs>148</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vt:lpstr>
      <vt:lpstr>Courier New</vt:lpstr>
      <vt:lpstr>Times New Roman</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K Lokesh - [CB.EN.U4AEE25022]</cp:lastModifiedBy>
  <cp:revision>4</cp:revision>
  <dcterms:created xsi:type="dcterms:W3CDTF">2026-10-07T15:27:40Z</dcterms:created>
  <dcterms:modified xsi:type="dcterms:W3CDTF">2026-10-09T16:31:38Z</dcterms:modified>
</cp:coreProperties>
</file>